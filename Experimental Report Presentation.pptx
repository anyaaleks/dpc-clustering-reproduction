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70" r:id="rId11"/>
    <p:sldId id="271" r:id="rId12"/>
    <p:sldId id="275" r:id="rId13"/>
    <p:sldId id="272" r:id="rId14"/>
    <p:sldId id="276" r:id="rId15"/>
    <p:sldId id="273" r:id="rId16"/>
    <p:sldId id="277" r:id="rId17"/>
    <p:sldId id="278" r:id="rId18"/>
    <p:sldId id="279" r:id="rId19"/>
    <p:sldId id="281" r:id="rId20"/>
    <p:sldId id="283" r:id="rId21"/>
    <p:sldId id="284" r:id="rId22"/>
    <p:sldId id="285" r:id="rId23"/>
    <p:sldId id="286" r:id="rId24"/>
    <p:sldId id="287" r:id="rId25"/>
    <p:sldId id="288" r:id="rId26"/>
    <p:sldId id="289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3600"/>
              <a:t>Reproducing "Clustering by fast search and find of density peaks"</a:t>
            </a:r>
            <a:endParaRPr lang="zh-CN" altLang="en-US" sz="36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Rodriguez &amp; Laio, Science 344, 1492 (2014)</a:t>
            </a:r>
            <a:endParaRPr lang="zh-CN" altLang="en-US"/>
          </a:p>
        </p:txBody>
      </p:sp>
      <p:sp>
        <p:nvSpPr>
          <p:cNvPr id="6" name="副标题 4"/>
          <p:cNvSpPr>
            <a:spLocks noGrp="1"/>
          </p:cNvSpPr>
          <p:nvPr/>
        </p:nvSpPr>
        <p:spPr>
          <a:xfrm>
            <a:off x="9020810" y="4879975"/>
            <a:ext cx="2409190" cy="737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Alekseeva Anna 1820259022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Project Introduction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7110" y="1582420"/>
            <a:ext cx="979741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Objective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pPr algn="l">
              <a:buClrTx/>
              <a:buSzTx/>
              <a:buFontTx/>
            </a:pPr>
            <a:r>
              <a:rPr lang="en-US">
                <a:sym typeface="+mn-ea"/>
              </a:rPr>
              <a:t>To reproduce and validate the Density Peaks Clustering (DPC) algorithm from the original Science paper.</a:t>
            </a:r>
            <a:endParaRPr lang="en-US"/>
          </a:p>
          <a:p>
            <a:endParaRPr lang="en-US"/>
          </a:p>
          <a:p>
            <a:r>
              <a:rPr lang="en-US" b="1"/>
              <a:t>Research Questions</a:t>
            </a:r>
            <a:r>
              <a:rPr lang="en-US"/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Can we successfully implement the DPC algorithm as described?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Does it achieve the reported performance on test datasets?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What insights can we gain about the center selection process?</a:t>
            </a:r>
            <a:endParaRPr lang="en-US"/>
          </a:p>
          <a:p>
            <a:pPr marL="342900" indent="-342900"/>
            <a:endParaRPr lang="en-US"/>
          </a:p>
          <a:p>
            <a:r>
              <a:rPr lang="en-US" b="1"/>
              <a:t>Expected Outcome</a:t>
            </a:r>
            <a:r>
              <a:rPr lang="en-US"/>
              <a:t>:</a:t>
            </a:r>
            <a:endParaRPr lang="en-US"/>
          </a:p>
          <a:p>
            <a:r>
              <a:rPr lang="en-US"/>
              <a:t>Verification that cluster centers are characterized by both high local density (ρ) and large distance to points with higher density (δ).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The DPC Algorithm Concept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7110" y="1584325"/>
            <a:ext cx="979741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Problem with Traditional Methods</a:t>
            </a:r>
            <a:r>
              <a:rPr lang="en-US">
                <a:sym typeface="+mn-ea"/>
              </a:rPr>
              <a:t>: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K-means</a:t>
            </a:r>
            <a:r>
              <a:rPr lang="en-US">
                <a:sym typeface="+mn-ea"/>
              </a:rPr>
              <a:t>: Assumes spherical clusters, requires specifying K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DBSCAN</a:t>
            </a:r>
            <a:r>
              <a:rPr lang="en-US">
                <a:sym typeface="+mn-ea"/>
              </a:rPr>
              <a:t>: Needs global density threshold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Mean-shift</a:t>
            </a:r>
            <a:r>
              <a:rPr lang="en-US">
                <a:sym typeface="+mn-ea"/>
              </a:rPr>
              <a:t>: Computationally expensive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Tx/>
            </a:pPr>
            <a:endParaRPr lang="en-US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DPC Core Insight</a:t>
            </a:r>
            <a:r>
              <a:rPr lang="en-US">
                <a:sym typeface="+mn-ea"/>
              </a:rPr>
              <a:t>:</a:t>
            </a:r>
            <a:endParaRPr lang="en-US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>
                <a:sym typeface="+mn-ea"/>
              </a:rPr>
              <a:t>Cluster centers are points that: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Have high local density</a:t>
            </a:r>
            <a:r>
              <a:rPr lang="en-US">
                <a:sym typeface="+mn-ea"/>
              </a:rPr>
              <a:t> (many nearby neighbors)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Are relatively far </a:t>
            </a:r>
            <a:r>
              <a:rPr lang="en-US">
                <a:sym typeface="+mn-ea"/>
              </a:rPr>
              <a:t>from any point with even higher density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</a:pPr>
            <a:endParaRPr lang="en-US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Mathematical Formulation</a:t>
            </a:r>
            <a:r>
              <a:rPr lang="en-US">
                <a:sym typeface="+mn-ea"/>
              </a:rPr>
              <a:t>: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ρᵢ = Σⱼ χ(dᵢⱼ - d꜀) </a:t>
            </a:r>
            <a:r>
              <a:rPr lang="ru-RU" altLang="en-US">
                <a:sym typeface="+mn-ea"/>
              </a:rPr>
              <a:t>- </a:t>
            </a:r>
            <a:r>
              <a:rPr lang="en-US">
                <a:sym typeface="+mn-ea"/>
              </a:rPr>
              <a:t>Local density (cutoff kernel)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δᵢ = minⱼ:ρⱼ&gt;ρᵢ(dᵢⱼ) </a:t>
            </a:r>
            <a:r>
              <a:rPr lang="ru-RU" altLang="en-US">
                <a:sym typeface="+mn-ea"/>
              </a:rPr>
              <a:t>-</a:t>
            </a:r>
            <a:r>
              <a:rPr lang="en-US">
                <a:sym typeface="+mn-ea"/>
              </a:rPr>
              <a:t> Distance to nearest higher density point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γᵢ = ρᵢ × δᵢ </a:t>
            </a:r>
            <a:r>
              <a:rPr lang="ru-RU" altLang="en-US">
                <a:sym typeface="+mn-ea"/>
              </a:rPr>
              <a:t>-</a:t>
            </a:r>
            <a:r>
              <a:rPr lang="en-US">
                <a:sym typeface="+mn-ea"/>
              </a:rPr>
              <a:t> Combined measure for center selection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Research Methodology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7110" y="1584325"/>
            <a:ext cx="979741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Reproduction Strategy</a:t>
            </a:r>
            <a:r>
              <a:rPr lang="en-US">
                <a:sym typeface="+mn-ea"/>
              </a:rPr>
              <a:t>: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Implementation</a:t>
            </a:r>
            <a:r>
              <a:rPr lang="en-US">
                <a:sym typeface="+mn-ea"/>
              </a:rPr>
              <a:t>: Code the DPC algorithm from scratch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Data Generation</a:t>
            </a:r>
            <a:r>
              <a:rPr lang="en-US">
                <a:sym typeface="+mn-ea"/>
              </a:rPr>
              <a:t>: Create exact test cases from the paper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Parameter </a:t>
            </a:r>
            <a:r>
              <a:rPr lang="en-US">
                <a:sym typeface="+mn-ea"/>
              </a:rPr>
              <a:t>Tuning: Find optimal d꜀ values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Validation</a:t>
            </a:r>
            <a:r>
              <a:rPr lang="en-US">
                <a:sym typeface="+mn-ea"/>
              </a:rPr>
              <a:t>: Compare with ground truth using ARI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b="1">
                <a:sym typeface="+mn-ea"/>
              </a:rPr>
              <a:t>Visualization</a:t>
            </a:r>
            <a:r>
              <a:rPr lang="en-US">
                <a:sym typeface="+mn-ea"/>
              </a:rPr>
              <a:t>: Generate all figures from the paper</a:t>
            </a:r>
            <a:endParaRPr lang="en-US">
              <a:sym typeface="+mn-ea"/>
            </a:endParaRPr>
          </a:p>
          <a:p>
            <a:pPr marL="342900" indent="-342900" algn="l">
              <a:buClrTx/>
              <a:buSzTx/>
              <a:buFontTx/>
            </a:pPr>
            <a:endParaRPr lang="en-US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Test Cases (from Figure 2 &amp; 3)</a:t>
            </a:r>
            <a:r>
              <a:rPr lang="en-US">
                <a:sym typeface="+mn-ea"/>
              </a:rPr>
              <a:t>: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Figure 2: 5 synthetic density peaks with varying shapes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Figure 3A: Two crescent moons (non-convex test)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Figure 3B: 15 overlapping Gaussian clusters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Figure 3C: Three concentric circles (nested structures)</a:t>
            </a:r>
            <a:endParaRPr lang="en-US"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Figure 3D: Three curved clusters (complex geometry)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Code Architecture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41925" y="1584325"/>
            <a:ext cx="97974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b="1">
                <a:sym typeface="+mn-ea"/>
              </a:rPr>
              <a:t>Project Structure:</a:t>
            </a:r>
            <a:endParaRPr lang="en-US" b="1"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925" y="1960880"/>
            <a:ext cx="6430010" cy="13309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24780" y="3651250"/>
            <a:ext cx="7727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b="1"/>
              <a:t>Center Selection Logic</a:t>
            </a:r>
            <a:r>
              <a:rPr lang="en-US"/>
              <a:t>: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780" y="4138930"/>
            <a:ext cx="6429375" cy="15455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98145" y="1584325"/>
            <a:ext cx="451294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ym typeface="+mn-ea"/>
              </a:rPr>
              <a:t>Key Implementation Challenges</a:t>
            </a:r>
            <a:r>
              <a:rPr lang="en-US">
                <a:sym typeface="+mn-ea"/>
              </a:rPr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sym typeface="+mn-ea"/>
              </a:rPr>
              <a:t>Density Computation</a:t>
            </a:r>
            <a:r>
              <a:rPr lang="en-US">
                <a:sym typeface="+mn-ea"/>
              </a:rPr>
              <a:t>: Efficient calculation for large datasets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sym typeface="+mn-ea"/>
              </a:rPr>
              <a:t>Center Selection</a:t>
            </a:r>
            <a:r>
              <a:rPr lang="en-US">
                <a:sym typeface="+mn-ea"/>
              </a:rPr>
              <a:t>: Finding points with BOTH high ρ AND high δ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sym typeface="+mn-ea"/>
              </a:rPr>
              <a:t>Halo Detection</a:t>
            </a:r>
            <a:r>
              <a:rPr lang="en-US">
                <a:sym typeface="+mn-ea"/>
              </a:rPr>
              <a:t>: Identifying border points as noise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sym typeface="+mn-ea"/>
              </a:rPr>
              <a:t>Parameter Optimization</a:t>
            </a:r>
            <a:r>
              <a:rPr lang="en-US">
                <a:sym typeface="+mn-ea"/>
              </a:rPr>
              <a:t>: Choosing appropriate d꜀ values</a:t>
            </a:r>
            <a:endParaRPr lang="en-US"/>
          </a:p>
          <a:p>
            <a:pPr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Synthetic Data with 5 Density Peaks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66800" y="1584325"/>
            <a:ext cx="995616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Experimental Setup</a:t>
            </a:r>
            <a:r>
              <a:rPr lang="en-US"/>
              <a:t>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Dataset: 4000 points from 5 Gaussian distributions + 20% uniform noise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Parameters: d꜀ = 0.08, cutoff kernel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Evaluation: Adjusted Rand Index (ARI) vs ground truth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Results</a:t>
            </a:r>
            <a:r>
              <a:rPr lang="ru-RU" altLang="en-US" b="1"/>
              <a:t> </a:t>
            </a:r>
            <a:r>
              <a:rPr lang="ru-RU" altLang="en-US"/>
              <a:t>(</a:t>
            </a:r>
            <a:r>
              <a:rPr lang="en-US">
                <a:sym typeface="+mn-ea"/>
              </a:rPr>
              <a:t>PERFECT CLUSTERING ACHIEVED</a:t>
            </a:r>
            <a:r>
              <a:rPr lang="ru-RU" altLang="en-US"/>
              <a:t>)</a:t>
            </a:r>
            <a:r>
              <a:rPr lang="en-US"/>
              <a:t>:</a:t>
            </a:r>
            <a:endParaRPr lang="en-US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/>
              <a:t>ARI Score: 1.0000 (perfect match with ground truth)</a:t>
            </a:r>
            <a:endParaRPr lang="en-US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/>
              <a:t>5 clusters correctly identified</a:t>
            </a:r>
            <a:endParaRPr lang="en-US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/>
              <a:t>Halo points properly separated as noise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" y="0"/>
            <a:ext cx="121545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b="88888"/>
          <a:stretch>
            <a:fillRect/>
          </a:stretch>
        </p:blipFill>
        <p:spPr>
          <a:xfrm>
            <a:off x="33020" y="0"/>
            <a:ext cx="12154535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780" y="735965"/>
            <a:ext cx="6342380" cy="6122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Robustness Across Different Cluster Types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48410" y="1584325"/>
            <a:ext cx="592137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3A: Two Crescent Moons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Challenge</a:t>
            </a:r>
            <a:r>
              <a:rPr lang="en-US"/>
              <a:t>: Non-convex, non-linearly separable clusters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Result</a:t>
            </a:r>
            <a:r>
              <a:rPr lang="en-US"/>
              <a:t>: Perfect separation of both moons</a:t>
            </a:r>
            <a:endParaRPr lang="en-US"/>
          </a:p>
          <a:p>
            <a:pPr marL="285750" indent="-285750"/>
            <a:endParaRPr lang="en-US"/>
          </a:p>
          <a:p>
            <a:pPr marL="285750" indent="-285750"/>
            <a:r>
              <a:rPr lang="en-US" b="1"/>
              <a:t>3B: 15 Overlapping Clusters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Challenge</a:t>
            </a:r>
            <a:r>
              <a:rPr lang="en-US"/>
              <a:t>: High density, many close clusters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Result</a:t>
            </a:r>
            <a:r>
              <a:rPr lang="en-US"/>
              <a:t>: All 15 clusters correctly identified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3C: Three Concentric Circles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Challenge</a:t>
            </a:r>
            <a:r>
              <a:rPr lang="en-US">
                <a:sym typeface="+mn-ea"/>
              </a:rPr>
              <a:t>: Nested structures with different densities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Result</a:t>
            </a:r>
            <a:r>
              <a:rPr lang="en-US">
                <a:sym typeface="+mn-ea"/>
              </a:rPr>
              <a:t>: Each circle identified as separate cluster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1">
                <a:sym typeface="+mn-ea"/>
              </a:rPr>
              <a:t>3D: Three Curved Clusters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Challenge</a:t>
            </a:r>
            <a:r>
              <a:rPr lang="en-US">
                <a:sym typeface="+mn-ea"/>
              </a:rPr>
              <a:t>: Complex, non-linear boundaries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Result</a:t>
            </a:r>
            <a:r>
              <a:rPr lang="en-US">
                <a:sym typeface="+mn-ea"/>
              </a:rPr>
              <a:t>: All 3 clusters properly separated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08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660" y="796925"/>
            <a:ext cx="6252210" cy="6061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b="88380"/>
          <a:stretch>
            <a:fillRect/>
          </a:stretch>
        </p:blipFill>
        <p:spPr>
          <a:xfrm>
            <a:off x="0" y="0"/>
            <a:ext cx="12240895" cy="796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b="773"/>
          <a:stretch>
            <a:fillRect/>
          </a:stretch>
        </p:blipFill>
        <p:spPr>
          <a:xfrm>
            <a:off x="0" y="0"/>
            <a:ext cx="1218184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b="88156"/>
          <a:stretch>
            <a:fillRect/>
          </a:stretch>
        </p:blipFill>
        <p:spPr>
          <a:xfrm>
            <a:off x="0" y="0"/>
            <a:ext cx="12181840" cy="8185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280" y="880110"/>
            <a:ext cx="6177280" cy="5977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107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88333"/>
          <a:stretch>
            <a:fillRect/>
          </a:stretch>
        </p:blipFill>
        <p:spPr>
          <a:xfrm>
            <a:off x="0" y="0"/>
            <a:ext cx="12110720" cy="8001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05" y="878840"/>
            <a:ext cx="6087110" cy="5979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9513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b="86952"/>
          <a:stretch>
            <a:fillRect/>
          </a:stretch>
        </p:blipFill>
        <p:spPr>
          <a:xfrm>
            <a:off x="0" y="0"/>
            <a:ext cx="11951335" cy="894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986155"/>
            <a:ext cx="6058535" cy="58718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all_test_cases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130" y="0"/>
            <a:ext cx="80791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0580"/>
          </a:xfrm>
        </p:spPr>
        <p:txBody>
          <a:bodyPr/>
          <a:p>
            <a:pPr algn="ctr"/>
            <a:r>
              <a:rPr lang="en-US" b="0">
                <a:effectLst/>
              </a:rPr>
              <a:t>Understanding the Decision Graph</a:t>
            </a:r>
            <a:endParaRPr lang="en-US" b="0">
              <a:effectLst/>
            </a:endParaRPr>
          </a:p>
        </p:txBody>
      </p:sp>
      <p:pic>
        <p:nvPicPr>
          <p:cNvPr id="4" name="Picture 3" descr="fig2_decision_grap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" y="1132205"/>
            <a:ext cx="6327775" cy="50279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22085" y="830580"/>
            <a:ext cx="566991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What is a Decision Graph</a:t>
            </a:r>
            <a:r>
              <a:rPr lang="en-US"/>
              <a:t>?</a:t>
            </a:r>
            <a:endParaRPr lang="en-US"/>
          </a:p>
          <a:p>
            <a:r>
              <a:rPr lang="en-US"/>
              <a:t>A scatter plot of δ (vertical axis) vs ρ (horizontal axis) where: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X-axis (ρ)</a:t>
            </a:r>
            <a:r>
              <a:rPr lang="en-US"/>
              <a:t>: Local density (log scale)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Y-axis (δ)</a:t>
            </a:r>
            <a:r>
              <a:rPr lang="en-US"/>
              <a:t>: Distance to nearest higher density point (log scale)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How to Interpret</a:t>
            </a:r>
            <a:r>
              <a:rPr lang="en-US"/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Cluster Centers</a:t>
            </a:r>
            <a:r>
              <a:rPr lang="en-US"/>
              <a:t>: Points in top-right corner (high ρ AND high δ)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Regular Points</a:t>
            </a:r>
            <a:r>
              <a:rPr lang="en-US"/>
              <a:t>: Bottom region (low δ, variable ρ)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Outliers/Halo</a:t>
            </a:r>
            <a:r>
              <a:rPr lang="en-US"/>
              <a:t>: Top-left corner (high δ but low ρ)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Border Points</a:t>
            </a:r>
            <a:r>
              <a:rPr lang="en-US"/>
              <a:t>: Points with density below cluster border density</a:t>
            </a:r>
            <a:endParaRPr lang="en-US"/>
          </a:p>
          <a:p>
            <a:pPr marL="342900" indent="-342900"/>
            <a:endParaRPr lang="en-US"/>
          </a:p>
          <a:p>
            <a:r>
              <a:rPr lang="en-US" b="1"/>
              <a:t>Critical Insight from Experiment</a:t>
            </a:r>
            <a:r>
              <a:rPr lang="en-US"/>
              <a:t>:</a:t>
            </a:r>
            <a:endParaRPr lang="en-US"/>
          </a:p>
          <a:p>
            <a:r>
              <a:rPr lang="en-US"/>
              <a:t>The original paper's key contribution is visual: cluster centers are visually identifiable in the decision graph as isolated points in the top-right region, not just points with high γ = ρ × δ.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Impact of Cutoff Distance d꜀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11860" y="1584325"/>
            <a:ext cx="998791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Experimental Investigation</a:t>
            </a:r>
            <a:r>
              <a:rPr lang="en-US"/>
              <a:t>:</a:t>
            </a:r>
            <a:r>
              <a:rPr lang="ru-RU" altLang="en-US"/>
              <a:t> </a:t>
            </a:r>
            <a:r>
              <a:rPr lang="en-US"/>
              <a:t>Tested d꜀ values: [0.05, 0.06, 0.07, 0.08, 0.09, 0.10, 0.12, 0.15]</a:t>
            </a:r>
            <a:endParaRPr lang="en-US"/>
          </a:p>
          <a:p>
            <a:endParaRPr lang="en-US"/>
          </a:p>
          <a:p>
            <a:r>
              <a:rPr lang="en-US" b="1"/>
              <a:t>Findings</a:t>
            </a:r>
            <a:r>
              <a:rPr lang="en-US"/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Too small (d꜀ = 0.05)</a:t>
            </a:r>
            <a:r>
              <a:rPr lang="en-US"/>
              <a:t>: Density estimates too sparse, centers unclear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Optimal (d꜀ = 0.08)</a:t>
            </a:r>
            <a:r>
              <a:rPr lang="en-US"/>
              <a:t>: Clear separation in decision graph, ARI = 1.000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Too large (d꜀ = 0.15)</a:t>
            </a:r>
            <a:r>
              <a:rPr lang="en-US"/>
              <a:t>: Density estimates too coarse, clusters merge</a:t>
            </a:r>
            <a:endParaRPr lang="en-US"/>
          </a:p>
          <a:p>
            <a:pPr marL="342900" indent="-342900"/>
            <a:endParaRPr lang="en-US"/>
          </a:p>
          <a:p>
            <a:r>
              <a:rPr lang="en-US" b="1"/>
              <a:t>Rule of Thumb Confirmed</a:t>
            </a:r>
            <a:r>
              <a:rPr lang="en-US"/>
              <a:t>:</a:t>
            </a:r>
            <a:r>
              <a:rPr lang="ru-RU" altLang="en-US"/>
              <a:t> </a:t>
            </a:r>
            <a:r>
              <a:rPr lang="en-US"/>
              <a:t>Choose d꜀ so average number of neighbors is 1-2% of total points.</a:t>
            </a:r>
            <a:endParaRPr lang="en-US"/>
          </a:p>
          <a:p>
            <a:endParaRPr lang="en-US"/>
          </a:p>
          <a:p>
            <a:r>
              <a:rPr lang="en-US" b="1"/>
              <a:t>Practical Implementation</a:t>
            </a:r>
            <a:r>
              <a:rPr lang="en-US"/>
              <a:t>: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4445635"/>
            <a:ext cx="8722360" cy="17900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DPC vs Other Clustering Algorithms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83260" y="1290320"/>
            <a:ext cx="1082548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K-means Comparison</a:t>
            </a:r>
            <a:r>
              <a:rPr lang="en-US"/>
              <a:t>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DPC Advantage</a:t>
            </a:r>
            <a:r>
              <a:rPr lang="en-US"/>
              <a:t>: No need to specify K, finds non-spherical clusters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Evidence</a:t>
            </a:r>
            <a:r>
              <a:rPr lang="en-US"/>
              <a:t>: K-means fails on crescent moons (Figure 3A)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Image</a:t>
            </a:r>
            <a:r>
              <a:rPr lang="en-US"/>
              <a:t>: Reference from paper showing K-means failure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DBSCAN Comparison</a:t>
            </a:r>
            <a:r>
              <a:rPr lang="en-US"/>
              <a:t>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DPC Advantage</a:t>
            </a:r>
            <a:r>
              <a:rPr lang="en-US"/>
              <a:t>: No global density threshold parameter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Evidence</a:t>
            </a:r>
            <a:r>
              <a:rPr lang="en-US"/>
              <a:t>: DPC automatically separates halo from core points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Implementation</a:t>
            </a:r>
            <a:r>
              <a:rPr lang="en-US"/>
              <a:t>: Halo detection based on border density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Mean-shift Comparison: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DPC Advantage</a:t>
            </a:r>
            <a:r>
              <a:rPr lang="en-US"/>
              <a:t>: More computationally efficient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Reason</a:t>
            </a:r>
            <a:r>
              <a:rPr lang="en-US"/>
              <a:t>: No need to iteratively shift all points toward density maxima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Statistical Validation: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ARI Score</a:t>
            </a:r>
            <a:r>
              <a:rPr lang="en-US"/>
              <a:t>: 1.0000 for Figure 2 (perfect)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Cluster Count</a:t>
            </a:r>
            <a:r>
              <a:rPr lang="en-US"/>
              <a:t>: Matches expected values for all test cases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Visual Inspection</a:t>
            </a:r>
            <a:r>
              <a:rPr lang="en-US"/>
              <a:t>: Clusters match human intuition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0795"/>
            <a:ext cx="10515600" cy="849630"/>
          </a:xfrm>
        </p:spPr>
        <p:txBody>
          <a:bodyPr/>
          <a:p>
            <a:pPr algn="ctr"/>
            <a:r>
              <a:rPr lang="en-US" b="0">
                <a:effectLst/>
              </a:rPr>
              <a:t>Automatic Noise/Outlier Identification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96850" y="1336675"/>
            <a:ext cx="564642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Algorithm for Halo Detection</a:t>
            </a:r>
            <a:r>
              <a:rPr lang="en-US"/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For each cluster, find its </a:t>
            </a:r>
            <a:r>
              <a:rPr lang="en-US" b="1"/>
              <a:t>border region</a:t>
            </a:r>
            <a:r>
              <a:rPr lang="en-US"/>
              <a:t> (points assigned to that cluster but within d꜀ of other clusters)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Find the point with </a:t>
            </a:r>
            <a:r>
              <a:rPr lang="en-US" b="1"/>
              <a:t>highest density </a:t>
            </a:r>
            <a:r>
              <a:rPr lang="en-US"/>
              <a:t>in the border region (ρ_b)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All points in the cluster with density &lt; ρ_b are classified as </a:t>
            </a:r>
            <a:r>
              <a:rPr lang="en-US" b="1"/>
              <a:t>halo </a:t>
            </a:r>
            <a:r>
              <a:rPr lang="en-US"/>
              <a:t>(noise)</a:t>
            </a:r>
            <a:endParaRPr lang="en-US"/>
          </a:p>
          <a:p>
            <a:pPr marL="342900" indent="-342900"/>
            <a:endParaRPr lang="en-US"/>
          </a:p>
          <a:p>
            <a:r>
              <a:rPr lang="en-US" b="1"/>
              <a:t>Implementation</a:t>
            </a:r>
            <a:r>
              <a:rPr lang="en-US"/>
              <a:t>: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4197985"/>
            <a:ext cx="5647055" cy="2105660"/>
          </a:xfrm>
          <a:prstGeom prst="rect">
            <a:avLst/>
          </a:prstGeom>
        </p:spPr>
      </p:pic>
      <p:pic>
        <p:nvPicPr>
          <p:cNvPr id="6" name="Picture 5" descr="fig2_clust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525" y="832485"/>
            <a:ext cx="6213475" cy="51923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368415" y="6024880"/>
            <a:ext cx="56457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/>
              <a:t>Gray 'x' markers show halo points automatically identified on cluster borders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Experimental Outcomes</a:t>
            </a:r>
            <a:br>
              <a:rPr lang="en-US" b="0">
                <a:effectLst/>
              </a:rPr>
            </a:b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082540" y="121602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Quantitative Results:</a:t>
            </a:r>
            <a:endParaRPr lang="en-US" b="1"/>
          </a:p>
        </p:txBody>
      </p:sp>
      <p:graphicFrame>
        <p:nvGraphicFramePr>
          <p:cNvPr id="6" name="Table 5"/>
          <p:cNvGraphicFramePr/>
          <p:nvPr/>
        </p:nvGraphicFramePr>
        <p:xfrm>
          <a:off x="5082540" y="1584325"/>
          <a:ext cx="8534400" cy="228600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1706880"/>
                <a:gridCol w="1706880"/>
                <a:gridCol w="1706880"/>
                <a:gridCol w="170688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Test Case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Expected Clusters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Found Clusters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ARI Score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Figure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5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5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1.0000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Figure 3A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2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2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N/A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Figure 3B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15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15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N/A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Figure 3C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N/A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Figure 3D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3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N/A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96850" y="1544955"/>
            <a:ext cx="45974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Qualitative Assessment: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Decision Graphs</a:t>
            </a:r>
            <a:r>
              <a:rPr lang="en-US"/>
              <a:t>: Clearly show cluster centers as isolated points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Gamma Plots</a:t>
            </a:r>
            <a:r>
              <a:rPr lang="en-US"/>
              <a:t>: Show sharp drops indicating natural cluster count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Visual Clustering</a:t>
            </a:r>
            <a:r>
              <a:rPr lang="en-US"/>
              <a:t>: Matches human perception of clusters</a:t>
            </a:r>
            <a:endParaRPr lang="en-US"/>
          </a:p>
          <a:p>
            <a:pPr marL="342900" indent="-342900">
              <a:buAutoNum type="arabicPeriod"/>
            </a:pPr>
            <a:r>
              <a:rPr lang="en-US" b="1"/>
              <a:t>Halo Separation</a:t>
            </a:r>
            <a:r>
              <a:rPr lang="en-US"/>
              <a:t>: Effectively distinguishes core from noise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96850" y="4710430"/>
            <a:ext cx="88068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Generated Outputs:</a:t>
            </a:r>
            <a:endParaRPr 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15 high-quality PNG plots matching paper figures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Interactive HTML report (experiment_report.html)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Complete code implementation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Detailed analysis documentation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Experimental Conclusions</a:t>
            </a:r>
            <a:br>
              <a:rPr lang="en-US" b="0">
                <a:effectLst/>
              </a:rPr>
            </a:b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7700" y="1347470"/>
            <a:ext cx="1123315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Confirmed Paper Claims</a:t>
            </a:r>
            <a:r>
              <a:rPr lang="en-US"/>
              <a:t>:</a:t>
            </a:r>
            <a:endParaRPr 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Cluster centers have both high density and large δ</a:t>
            </a:r>
            <a:endParaRPr 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Number of clusters emerges intuitively from decision graph</a:t>
            </a:r>
            <a:endParaRPr 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Algorithm works for arbitrary cluster shapes</a:t>
            </a:r>
            <a:endParaRPr 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Outliers automatically detected as halo points</a:t>
            </a:r>
            <a:endParaRPr 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Method is robust to choice of d꜀</a:t>
            </a:r>
            <a:endParaRPr lang="en-US"/>
          </a:p>
          <a:p>
            <a:pPr marL="342900" indent="-342900"/>
            <a:endParaRPr lang="en-US"/>
          </a:p>
          <a:p>
            <a:r>
              <a:rPr lang="en-US" b="1"/>
              <a:t>Critical Implementation Insight</a:t>
            </a:r>
            <a:r>
              <a:rPr lang="en-US"/>
              <a:t>:</a:t>
            </a:r>
            <a:endParaRPr lang="en-US"/>
          </a:p>
          <a:p>
            <a:r>
              <a:rPr lang="en-US"/>
              <a:t>The most important lesson was </a:t>
            </a:r>
            <a:r>
              <a:rPr lang="en-US" b="1"/>
              <a:t>not </a:t>
            </a:r>
            <a:r>
              <a:rPr lang="en-US"/>
              <a:t>in the mathematical formulation but in the </a:t>
            </a:r>
            <a:r>
              <a:rPr lang="en-US" b="1"/>
              <a:t>visual interpretation </a:t>
            </a:r>
            <a:r>
              <a:rPr lang="en-US"/>
              <a:t>of the decision graph. Successful center selection requires identifying points with </a:t>
            </a:r>
            <a:r>
              <a:rPr lang="en-US" b="1"/>
              <a:t>BOTH </a:t>
            </a:r>
            <a:r>
              <a:rPr lang="en-US"/>
              <a:t>high ρ </a:t>
            </a:r>
            <a:r>
              <a:rPr lang="en-US" b="1"/>
              <a:t>AND </a:t>
            </a:r>
            <a:r>
              <a:rPr lang="en-US"/>
              <a:t>high δ, not just high γ = ρ × δ.</a:t>
            </a:r>
            <a:endParaRPr lang="en-US"/>
          </a:p>
          <a:p>
            <a:endParaRPr lang="en-US" b="1"/>
          </a:p>
          <a:p>
            <a:r>
              <a:rPr lang="en-US" b="1"/>
              <a:t>Practical Recommendations</a:t>
            </a:r>
            <a:r>
              <a:rPr lang="en-US"/>
              <a:t>: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Always visualize the decision graph before selecting centers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Use the γ plot as a secondary validation tool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Experiment with different d꜀ values (1-2% neighbor rule)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Consider Gaussian kernel for small datasets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0">
                <a:effectLst/>
              </a:rPr>
              <a:t>Sources and Resources</a:t>
            </a:r>
            <a:endParaRPr lang="en-US" b="0"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7700" y="1823085"/>
            <a:ext cx="780478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Primary Reference</a:t>
            </a:r>
            <a:r>
              <a:rPr lang="en-US"/>
              <a:t>:</a:t>
            </a:r>
            <a:endParaRPr lang="en-US"/>
          </a:p>
          <a:p>
            <a:r>
              <a:rPr lang="en-US"/>
              <a:t>Rodriguez, A., &amp; Laio, A. (2014). Clustering by fast search and find of density peaks. Science, 344(6191), 1492-1496.</a:t>
            </a:r>
            <a:endParaRPr lang="en-US"/>
          </a:p>
          <a:p>
            <a:endParaRPr lang="en-US"/>
          </a:p>
          <a:p>
            <a:r>
              <a:rPr lang="en-US" b="1"/>
              <a:t>Code Dependencies</a:t>
            </a:r>
            <a:r>
              <a:rPr lang="en-US"/>
              <a:t>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NumPy, SciPy: Numerical computations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Matplotlib: Visualization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scikit-learn: Comparison algorithms and metrics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tqdm: Progress bars</a:t>
            </a:r>
            <a:endParaRPr lang="en-US"/>
          </a:p>
          <a:p>
            <a:pPr marL="285750" indent="-285750"/>
            <a:endParaRPr lang="en-US"/>
          </a:p>
          <a:p>
            <a:r>
              <a:rPr lang="en-US" b="1"/>
              <a:t>Experimental Validation</a:t>
            </a:r>
            <a:r>
              <a:rPr lang="en-US"/>
              <a:t>: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Adjusted Rand Index (ARI) for quantitative assessment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Visual inspection against paper figures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Parameter sensitivity analysis</a:t>
            </a:r>
            <a:endParaRPr lang="en-US"/>
          </a:p>
        </p:txBody>
      </p:sp>
      <p:pic>
        <p:nvPicPr>
          <p:cNvPr id="5" name="Picture 4" descr="qrcode_285405512_fd31be5709ad6d3563699a8b6b4eaa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0" y="1823085"/>
            <a:ext cx="2648585" cy="26485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069070" y="4471670"/>
            <a:ext cx="2125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ru-RU" b="1"/>
              <a:t>Project on GitHub</a:t>
            </a:r>
            <a:endParaRPr lang="en-US" altLang="ru-RU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7002</Words>
  <Application>WPS Presentation</Application>
  <PresentationFormat>宽屏</PresentationFormat>
  <Paragraphs>257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SimSun</vt:lpstr>
      <vt:lpstr>DejaVu Sans</vt:lpstr>
      <vt:lpstr>FreeMono</vt:lpstr>
      <vt:lpstr>Office Theme</vt:lpstr>
      <vt:lpstr>PowerPoint 演示文稿</vt:lpstr>
      <vt:lpstr>PowerPoint 演示文稿</vt:lpstr>
      <vt:lpstr>Project Introduction</vt:lpstr>
      <vt:lpstr>The DPC Algorithm Concept</vt:lpstr>
      <vt:lpstr>Research Methodology</vt:lpstr>
      <vt:lpstr>PowerPoint 演示文稿</vt:lpstr>
      <vt:lpstr>PowerPoint 演示文稿</vt:lpstr>
      <vt:lpstr>PowerPoint 演示文稿</vt:lpstr>
      <vt:lpstr>Synthetic Data with 5 Density Peaks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anya</cp:lastModifiedBy>
  <cp:revision>14</cp:revision>
  <dcterms:created xsi:type="dcterms:W3CDTF">2025-12-07T09:09:29Z</dcterms:created>
  <dcterms:modified xsi:type="dcterms:W3CDTF">2025-12-07T09:09:29Z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